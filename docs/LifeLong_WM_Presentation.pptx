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3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LifeLong WM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BF2FF"/>
                </a:solidFill>
              </a:rPr>
              <a:t>통계가 불확실성을 계산하고, AI가 누구나 이해할 수 있는 말로 전달한다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834640"/>
            <a:ext cx="3959352" cy="45720"/>
          </a:xfrm>
          <a:prstGeom prst="rect">
            <a:avLst/>
          </a:prstGeom>
          <a:solidFill>
            <a:srgbClr val="4A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BF2FF"/>
                </a:solidFill>
              </a:rPr>
              <a:t>JB금융그룹 Fin:AI Challenge  |  지정주제1 개인 라이프케어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2026.06.12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BF2FF"/>
                </a:solidFill>
              </a:rPr>
              <a:t>통계학과 팀  |  Role A: 통계 모델  ·  Role B: AI Agent +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왜 이 서비스인가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BF2FF"/>
                </a:solidFill>
              </a:rPr>
              <a:t>기존 WM과의 차별점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</a:rPr>
              <a:t>2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4389120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44444"/>
                </a:solidFill>
              </a:rPr>
              <a:t>기존 WM 서비스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493776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❌  미래를 단일 숫자로 표현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"83세까지 버팁니다"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❌  LLM + 금융 데이터 → 텍스트 조언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❌  불확실성 무시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4389120"/>
          </a:xfrm>
          <a:prstGeom prst="rect">
            <a:avLst/>
          </a:prstGeom>
          <a:solidFill>
            <a:srgbClr val="EBF2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F8A"/>
                </a:solidFill>
              </a:rPr>
              <a:t>LifeLong WM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5120640" cy="457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4F8A"/>
                </a:solidFill>
              </a:rPr>
              <a:t>✅  미래를 확률 분포로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51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4F8A"/>
                </a:solidFill>
              </a:rPr>
              <a:t>"83세 전 고갈 확률 41%"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918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4F8A"/>
                </a:solidFill>
              </a:rPr>
              <a:t>✅  통계 모델 → 확률 인사이트 → LLM 해석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4F8A"/>
                </a:solidFill>
              </a:rPr>
              <a:t>✅  한국 공개 데이터 100%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9EDB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BF2FF"/>
                </a:solidFill>
              </a:rPr>
              <a:t>통계 모델 → AI Agent → UI 3계층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</a:rPr>
              <a:t>3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143000"/>
          </a:xfrm>
          <a:prstGeom prst="rect">
            <a:avLst/>
          </a:prstGeom>
          <a:solidFill>
            <a:srgbClr val="EBF2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사용자 (Streamlit UI)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버튼 4개  ·  팬 차트  ·  연령별 글씨 크기  ·  음성 모드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3500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9EDB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32888"/>
            <a:ext cx="11430000" cy="11430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AI Agent 계층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llama3.1:8b → Tool 선택  ·  exaone3.5:7.8b → 한국어 응답  (완전 로컬, 무료)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6484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9EDB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31335"/>
            <a:ext cx="11430000" cy="11430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04487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C00"/>
                </a:solidFill>
              </a:rPr>
              <a:t>통계 모델 계층 (핵심 차별화)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3425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생존분석 · Monte Carlo · 연금최적화 · CVaR · K-means · 이상탐지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94690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9EDB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9783"/>
            <a:ext cx="11430000" cy="114300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029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A1B9A"/>
                </a:solidFill>
              </a:rPr>
              <a:t>공개 데이터 계층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32703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통계청 생명표 · 한국은행 ECOS · KRX · 가계금융복지조사 · 국민연금공단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핵심 기능 — 버튼 4개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BF2FF"/>
                </a:solidFill>
              </a:rPr>
              <a:t>어르신이 버튼만 누르면 통계 모델이 자동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</a:rPr>
              <a:t>4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486400" cy="2286000"/>
          </a:xfrm>
          <a:prstGeom prst="rect">
            <a:avLst/>
          </a:prstGeom>
          <a:solidFill>
            <a:srgbClr val="EBF2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44444"/>
                </a:solidFill>
              </a:rP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35607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내 자산
얼마나 버티나요?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Monte Carlo 10,000회
→ 자산 고갈 확률
→ 팬 차트 시각화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486400" cy="2286000"/>
          </a:xfrm>
          <a:prstGeom prst="rect">
            <a:avLst/>
          </a:prstGeom>
          <a:solidFill>
            <a:srgbClr val="EBF2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44444"/>
                </a:solidFill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435607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연금 언제 받는 게
좋을까요?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62~70세 시나리오 비교
→ 최적 수령 시기
→ 막대 차트 시각화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486400" cy="2286000"/>
          </a:xfrm>
          <a:prstGeom prst="rect">
            <a:avLst/>
          </a:prstGeom>
          <a:solidFill>
            <a:srgbClr val="EBF2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44444"/>
                </a:solidFill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95928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또래랑
비교해주세요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K-means 군집 분석
→ 퍼센타일 랭킹
→ 상위 집단 행동 패턴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86200"/>
            <a:ext cx="5486400" cy="2286000"/>
          </a:xfrm>
          <a:prstGeom prst="rect">
            <a:avLst/>
          </a:prstGeom>
          <a:solidFill>
            <a:srgbClr val="EBF2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44444"/>
                </a:solidFill>
              </a:rPr>
              <a:t>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95928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8A"/>
                </a:solidFill>
              </a:rPr>
              <a:t>지출 줄이면
어떻게 되나요?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006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지출 20% 절감 재시뮬
→ 자산 수명 연장 효과
→ 팬 차트 비교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통계 모델 — 핵심 차별화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BF2FF"/>
                </a:solidFill>
              </a:rPr>
              <a:t>모든 수치는 한국 공개 데이터 기반 확률 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</a:rPr>
              <a:t>5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965960" cy="38404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234440"/>
            <a:ext cx="2514600" cy="38404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39" y="126187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방법론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234440"/>
            <a:ext cx="3154680" cy="38404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2618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데이터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234440"/>
            <a:ext cx="3154680" cy="38404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2618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45920"/>
            <a:ext cx="196596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7190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</a:rPr>
              <a:t>생존 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1645920"/>
            <a:ext cx="251460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39" y="171907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Cox PH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645920"/>
            <a:ext cx="315468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71907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통계청 국민생명표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645920"/>
            <a:ext cx="315468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71907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개인화 생존 함수 S(t)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95728"/>
            <a:ext cx="19659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</a:rPr>
              <a:t>Monte Carlo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2395728"/>
            <a:ext cx="25146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39" y="246888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10,000회 시뮬레이션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395728"/>
            <a:ext cx="3154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ECOS 금리/CPI · KRX 수익률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2395728"/>
            <a:ext cx="3154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자산 고갈 확률 · 10/50/90 경로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145536"/>
            <a:ext cx="196596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21868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</a:rPr>
              <a:t>연금 최적화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3145536"/>
            <a:ext cx="251460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39" y="3218688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시나리오 비교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3145536"/>
            <a:ext cx="315468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32186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국민연금공단 통계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3145536"/>
            <a:ext cx="315468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2186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최적 수령 시기 · 손익분기 연령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895344"/>
            <a:ext cx="19659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968496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</a:rPr>
              <a:t>CVaR 최적화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31720" y="3895344"/>
            <a:ext cx="25146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39" y="3968496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cvxpy 볼록 최적화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3895344"/>
            <a:ext cx="3154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80" y="3968496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KRX 자산 수익률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79" y="3895344"/>
            <a:ext cx="3154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3968496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리스크 허용도별 자산 배분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645152"/>
            <a:ext cx="196596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71830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</a:rPr>
              <a:t>K-means 군집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31720" y="4645152"/>
            <a:ext cx="251460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39" y="4718304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군집 내 퍼센타일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4645152"/>
            <a:ext cx="315468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83480" y="4718304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가계금융복지조사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79" y="4645152"/>
            <a:ext cx="3154680" cy="685800"/>
          </a:xfrm>
          <a:prstGeom prst="rect">
            <a:avLst/>
          </a:prstGeom>
          <a:solidFill>
            <a:srgbClr val="EBF2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4718304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또래 대비 재무 위치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394959"/>
            <a:ext cx="19659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546811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</a:rPr>
              <a:t>이상치 탐지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31720" y="5394959"/>
            <a:ext cx="25146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77439" y="5468112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Isolation Forest · CUSUM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5394959"/>
            <a:ext cx="3154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83480" y="54681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개인 거래 기저선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83879" y="5394959"/>
            <a:ext cx="3154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0" y="54681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보이스피싱 · 소비 이탈 감지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Agent — 이중 모델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BF2FF"/>
                </a:solidFill>
              </a:rPr>
              <a:t>비용 없는 로컬 LLM으로 자연스러운 한국어 응답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</a:rPr>
              <a:t>6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2286000" cy="2011680"/>
          </a:xfrm>
          <a:prstGeom prst="rect">
            <a:avLst/>
          </a:prstGeom>
          <a:solidFill>
            <a:srgbClr val="EBF2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8A"/>
                </a:solidFill>
              </a:rPr>
              <a:t>사용자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버튼 클릭
(LLM 직접 노출 없음)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286000"/>
            <a:ext cx="274320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llama3.1:8b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260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Tool 선택 · 호출
(Meta, 영어 강점)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286000"/>
            <a:ext cx="2560320" cy="20116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4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통계 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2377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순수 Python
API 비용 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286000"/>
            <a:ext cx="2743200" cy="2011680"/>
          </a:xfrm>
          <a:prstGeom prst="rect">
            <a:avLst/>
          </a:prstGeom>
          <a:solidFill>
            <a:srgbClr val="EBF2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8A"/>
                </a:solidFill>
              </a:rPr>
              <a:t>exaone3.5:7.8b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9260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한국어 설명 생성
(LG, 한국어 특화)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9EDB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9EDB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9EDB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663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✅  완전 무료 (Ollama 로컬 실행)  ·  비용 0원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166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중국어 오염 없음  ·  자연스러운 어르신 말투  ·  연령별 언어 수준 자동 조정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평가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BF2FF"/>
                </a:solidFill>
              </a:rPr>
              <a:t>정량적 검증 — 45개 테스트 케이스 자동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</a:rPr>
              <a:t>7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5661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566160" cy="50292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Tool 선택 정확도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B4F8A"/>
                </a:solidFill>
              </a:rPr>
              <a:t>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19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올바른 통계 도구 선택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35661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280160"/>
            <a:ext cx="35661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다중 턴 맥락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7451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2E7D32"/>
                </a:solidFill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4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657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이전 파라미터 연속 유지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280160"/>
            <a:ext cx="35661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80160"/>
            <a:ext cx="3566160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위험 차단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87451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53935"/>
                </a:solidFill>
              </a:rPr>
              <a:t>73%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11 /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657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보이스피싱·고위험 조언 차단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846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</a:rPr>
              <a:t>평가 방법: python evaluation/test_cases.py  (자동 실행, 재현 가능)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257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</a:rPr>
              <a:t>Coverage Probability · C-index · Silhouette Score 등 통계 모델 지표 별도 측정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3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사회적 가치 &amp; 마무리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4572000" cy="45720"/>
          </a:xfrm>
          <a:prstGeom prst="rect">
            <a:avLst/>
          </a:prstGeom>
          <a:solidFill>
            <a:srgbClr val="4A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44444"/>
                </a:solidFill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확률론적 재무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447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BF2FF"/>
                </a:solidFill>
              </a:rPr>
              <a:t>단일 숫자가 아닌 확률 분포로 불확실성 정량화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44444"/>
                </a:solidFill>
              </a:rPr>
              <a:t>🇰🇷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한국 데이터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BF2FF"/>
                </a:solidFill>
              </a:rPr>
              <a:t>통계청·한국은행·KRX 공개 데이터 기반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44444"/>
                </a:solidFill>
              </a:rPr>
              <a:t>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포용적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BF2FF"/>
                </a:solidFill>
              </a:rPr>
              <a:t>가족 없는 독거 고령층도 완결되는 서비스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661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44444"/>
                </a:solidFill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사기 방어 내장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136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BF2FF"/>
                </a:solidFill>
              </a:rPr>
              <a:t>보이스피싱·이상 거래 실시간 감지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3891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44444"/>
                </a:solidFill>
              </a:rPr>
              <a:t>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비용 제로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BF2FF"/>
                </a:solidFill>
              </a:rPr>
              <a:t>완전 로컬 LLM — Ollama 사용, API 비용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</a:rPr>
              <a:t>통계학 전공 역량 × AI Agent = 누구나 이해할 수 있는 확률 기반 재무 동반자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