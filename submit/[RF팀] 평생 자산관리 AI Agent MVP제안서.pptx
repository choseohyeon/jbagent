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ihjF2ZWQEcNdCQGL3IzqOLXbA9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78BA"/>
    <a:srgbClr val="2691C5"/>
    <a:srgbClr val="FFFFFF"/>
    <a:srgbClr val="204B90"/>
    <a:srgbClr val="C12026"/>
    <a:srgbClr val="004889"/>
    <a:srgbClr val="004687"/>
    <a:srgbClr val="3CB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alt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3561924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582645" y="1766158"/>
            <a:ext cx="9604661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JB</a:t>
            </a:r>
            <a:r>
              <a:rPr lang="ko-KR" altLang="en-US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금융그룹 </a:t>
            </a:r>
            <a:r>
              <a:rPr lang="en-US" altLang="ko-KR" sz="4000" b="0" i="0" dirty="0" err="1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Fin:AI</a:t>
            </a: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 Challenge</a:t>
            </a:r>
            <a:endParaRPr lang="en-US" altLang="ko-KR" sz="40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graphicFrame>
        <p:nvGraphicFramePr>
          <p:cNvPr id="89" name="Google Shape;89;p1"/>
          <p:cNvGraphicFramePr/>
          <p:nvPr>
            <p:extLst>
              <p:ext uri="{D42A27DB-BD31-4B8C-83A1-F6EECF244321}">
                <p14:modId xmlns:p14="http://schemas.microsoft.com/office/powerpoint/2010/main" val="53809264"/>
              </p:ext>
            </p:extLst>
          </p:nvPr>
        </p:nvGraphicFramePr>
        <p:xfrm>
          <a:off x="3386675" y="4470435"/>
          <a:ext cx="5418650" cy="899000"/>
        </p:xfrm>
        <a:graphic>
          <a:graphicData uri="http://schemas.openxmlformats.org/drawingml/2006/table">
            <a:tbl>
              <a:tblPr firstRow="1" bandRow="1">
                <a:noFill/>
                <a:tableStyleId>{97A43732-219E-4773-AEE6-7331DB972763}</a:tableStyleId>
              </a:tblPr>
              <a:tblGrid>
                <a:gridCol w="270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 u="none" strike="noStrike" cap="none" dirty="0" err="1"/>
                        <a:t>팀명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800" u="none" strike="noStrike" cap="none" dirty="0"/>
                        <a:t>서비스명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531980"/>
                  </a:ext>
                </a:extLst>
              </a:tr>
            </a:tbl>
          </a:graphicData>
        </a:graphic>
      </p:graphicFrame>
      <p:cxnSp>
        <p:nvCxnSpPr>
          <p:cNvPr id="90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" name="Google Shape;9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4" name="Google Shape;94;p1"/>
          <p:cNvCxnSpPr>
            <a:cxnSpLocks/>
          </p:cNvCxnSpPr>
          <p:nvPr/>
        </p:nvCxnSpPr>
        <p:spPr>
          <a:xfrm>
            <a:off x="1582645" y="2607351"/>
            <a:ext cx="9508142" cy="0"/>
          </a:xfrm>
          <a:prstGeom prst="straightConnector1">
            <a:avLst/>
          </a:prstGeom>
          <a:noFill/>
          <a:ln w="38100" cap="flat" cmpd="sng">
            <a:solidFill>
              <a:srgbClr val="204B9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Google Shape;90;p1">
            <a:extLst>
              <a:ext uri="{FF2B5EF4-FFF2-40B4-BE49-F238E27FC236}">
                <a16:creationId xmlns:a16="http://schemas.microsoft.com/office/drawing/2014/main" id="{053CAB3C-01D3-307A-B765-DB89E56FD267}"/>
              </a:ext>
            </a:extLst>
          </p:cNvPr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691C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Google Shape;88;p1">
            <a:extLst>
              <a:ext uri="{FF2B5EF4-FFF2-40B4-BE49-F238E27FC236}">
                <a16:creationId xmlns:a16="http://schemas.microsoft.com/office/drawing/2014/main" id="{843A480D-A23F-1A8F-080E-E9B0778DF5F8}"/>
              </a:ext>
            </a:extLst>
          </p:cNvPr>
          <p:cNvSpPr txBox="1"/>
          <p:nvPr/>
        </p:nvSpPr>
        <p:spPr>
          <a:xfrm>
            <a:off x="4645457" y="2802248"/>
            <a:ext cx="2901085" cy="587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MVP </a:t>
            </a:r>
            <a:r>
              <a:rPr lang="ko-KR" altLang="en-US" sz="2800">
                <a:solidFill>
                  <a:srgbClr val="202124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제안</a:t>
            </a:r>
            <a:r>
              <a:rPr lang="ko-KR" altLang="en-US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서</a:t>
            </a:r>
            <a:endParaRPr lang="en-US" altLang="ko-KR" sz="28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5B2209C-6979-9157-1F5A-B28B3C592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9E82A0D5-5563-BD1F-6E05-4BFFF3CA4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77535"/>
              </p:ext>
            </p:extLst>
          </p:nvPr>
        </p:nvGraphicFramePr>
        <p:xfrm>
          <a:off x="744427" y="1145754"/>
          <a:ext cx="10776155" cy="4699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648815269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1921105622"/>
                    </a:ext>
                  </a:extLst>
                </a:gridCol>
              </a:tblGrid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팀명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280422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팀원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조서현(Data Analyst), 조호평(Data Scientist)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25227288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서비스명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4307777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주제 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지정주제 1. 개인 라이프케어 AI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938048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한줄소개</a:t>
                      </a:r>
                      <a:endParaRPr lang="en-US" altLang="ko-KR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통계가 불확실성을 계산하고, AI가 그것을 누구나 이해할 수 있는 말로 전달한다 — 가족이 있든 없든, 디지털에 익숙하든 아니든.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9393612"/>
                  </a:ext>
                </a:extLst>
              </a:tr>
            </a:tbl>
          </a:graphicData>
        </a:graphic>
      </p:graphicFrame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B1DBEA1A-7DC9-3798-9EAA-C04652D3DCC4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" name="Google Shape;99;p2">
            <a:extLst>
              <a:ext uri="{FF2B5EF4-FFF2-40B4-BE49-F238E27FC236}">
                <a16:creationId xmlns:a16="http://schemas.microsoft.com/office/drawing/2014/main" id="{042EBB0F-0210-2C73-6523-51C3A0EB0550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" name="Google Shape;101;p2">
            <a:extLst>
              <a:ext uri="{FF2B5EF4-FFF2-40B4-BE49-F238E27FC236}">
                <a16:creationId xmlns:a16="http://schemas.microsoft.com/office/drawing/2014/main" id="{9F08DF74-238C-9073-1522-54C6B39AB5F3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" name="Google Shape;102;p2">
            <a:extLst>
              <a:ext uri="{FF2B5EF4-FFF2-40B4-BE49-F238E27FC236}">
                <a16:creationId xmlns:a16="http://schemas.microsoft.com/office/drawing/2014/main" id="{92B34A29-70DB-0172-C890-5E355A3C66EE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1. Summary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FF712513-FC6B-0394-BE94-BD6FA584D466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Google Shape;92;p1">
            <a:extLst>
              <a:ext uri="{FF2B5EF4-FFF2-40B4-BE49-F238E27FC236}">
                <a16:creationId xmlns:a16="http://schemas.microsoft.com/office/drawing/2014/main" id="{2F4A3070-AD69-96C2-8039-2626E5B048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F1CCC0-1626-4345-F4D7-A3CC2416B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4D7D1-0B19-F66A-84F8-B80017D8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 txBox="1"/>
          <p:nvPr/>
        </p:nvSpPr>
        <p:spPr>
          <a:xfrm>
            <a:off x="939332" y="1189703"/>
            <a:ext cx="2777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문제 정의</a:t>
            </a:r>
            <a:r>
              <a:rPr lang="en-US" altLang="ko-KR" dirty="0">
                <a:latin typeface="+mj-ea"/>
                <a:ea typeface="+mj-ea"/>
              </a:rPr>
              <a:t>(Problem Definition)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38DA6E6D-E7BA-305C-C09E-8185DC29649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69F5F16A-E189-D103-8849-37E8D603F1C8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2.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정의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(Problem Definition)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F507B-AE97-543C-09EA-F8D8E5D0846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문제 (Problem)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기존 WM 서비스는 미래를 단일 수치로만 표현합니다.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"83세까지 버팁니다"  →  단일 수치로 불확실한 미래를 표현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필요: "83세 전 자산 고갈 확률은 41%입니다"  →  확률 분포로 리스크 정량화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불확실한 노후 현금흐름을 확률 분포 없이 계획하면 리스크를 과소·과대 평가합니다.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해결 대상 (Target)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은퇴 준비층 (50~64세) — 은퇴 시점·연금 전략 결정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초기 고령층 (65~74세) — 자산 수명·월 지출 관리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후기 고령층 (75세+) — 금융사기 방어·안부 확인 필요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발생 배경 (Background)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2026년 초고령사회 진입 (65세+ 인구 비율 20%+)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고령 가구 비율 25% → 보호자 없는 금융 취약 계층 급증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기존 WM: 고액 자산가·디지털 익숙 사용자 중심 → 고령층 포용 불가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KPI (해결 후 기대 변화)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Monte Carlo Coverage Probability ≥ 95%  |  이상 거래 탐지 F1-score ≥ 0.85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생존분석 C-index ≥ 0.65  |  고령층 가독성(Flesch Reading Ease)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C68CEE-9277-FB0E-5D76-605741218C00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DD13D667-F1EF-84F5-EED9-A9EDD3C109ED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E8D2E638-900C-0A23-9832-99EFC1069729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5133C3B-FA3E-F0AB-0179-24B10C81060A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61296DF9-B7FF-0591-294E-C089D51449C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1F100A-A05D-DBAD-2AD7-53EFD88E7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1803-0BCB-CDD6-42D3-235F3A36E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66A8299-6D51-DAF9-3F23-456F5D4538BD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76D45-1367-695A-8B79-BFC4D4D7BA5B}"/>
              </a:ext>
            </a:extLst>
          </p:cNvPr>
          <p:cNvSpPr txBox="1"/>
          <p:nvPr/>
        </p:nvSpPr>
        <p:spPr>
          <a:xfrm>
            <a:off x="939332" y="1189703"/>
            <a:ext cx="33868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제안 솔루션 개요 </a:t>
            </a:r>
            <a:r>
              <a:rPr lang="en-US" altLang="ko-KR" dirty="0">
                <a:latin typeface="+mj-ea"/>
                <a:ea typeface="+mj-ea"/>
              </a:rPr>
              <a:t>(Solution Overview)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1D14950D-817F-F6EB-EF9A-D1112359DB87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8D5AACD-782A-F75A-7057-CC33540D6F74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3.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제안 솔루션 개요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(Solution Overview)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23B1F9-D3F2-5329-8A08-D8762AD85FE0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전체 서비스 구조 (4계층 파이프라인)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① 사용자 입력 (온보딩)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나이·자산·지출·연금·건강 정보 → 구간 선택 방식 제공 (정확한 숫자 몰라도 OK)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② 공개 데이터 레이어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국민생명표·가계금융복지조사 / 한국은행 ECOS API(금리·CPI) / KRX KOSPI·KOSPI200·KTB 채권지수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③ 통계 모델 레이어  ← 핵심 차별화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생존분석(Cox PH) · Monte Carlo 10,000회 ·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국민연금 전략 최적화 · K-means 군집 분석 · 이상 거래 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④ AI Agent  —  Groq API Tool Use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llama-3.1-8b-instant — Tool 선택·실행·한국어 응답 생성 (단일 모델, 무료 API)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Rate Limit 에러 처리 / 범위 외 질문 키워드 사전 필터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⑤ Slow Banking UI (Streamlit Cloud 배포)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버튼 모드 (큰 글씨·구간 선택·팬 차트)  /  직접 질문 (자유 입력)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핵심 차별화 포인트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LLM → 텍스트 조언 (추측)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당사: 통계 모델 계산 → 확률 수치 → LLM 해석 → 자연어 전달 (근거)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233CF2AF-1B9B-3631-BC06-AD7510F434F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3BB4E210-05A3-8500-833B-493E20BFD22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159738A-FC36-C4DB-30D8-914020758657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857A5BB-5018-1C11-40B9-97290B090E61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3A9837C3-DD0A-3D3B-B638-64B3302775E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0AE3F27-92C5-02B1-FF71-7807DD32A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282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6C246-B742-4CC5-4DE1-3D3A549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7D249F0-0136-43E2-7E93-8F61EA5FFA04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9B714-0CA5-94B7-0D36-144E9F422B5C}"/>
              </a:ext>
            </a:extLst>
          </p:cNvPr>
          <p:cNvSpPr txBox="1"/>
          <p:nvPr/>
        </p:nvSpPr>
        <p:spPr>
          <a:xfrm>
            <a:off x="939332" y="1189703"/>
            <a:ext cx="2796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4. </a:t>
            </a:r>
            <a:r>
              <a:rPr lang="ko-KR" altLang="en-US" dirty="0">
                <a:latin typeface="+mj-ea"/>
                <a:ea typeface="+mj-ea"/>
              </a:rPr>
              <a:t>주요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기능 정의 </a:t>
            </a:r>
            <a:r>
              <a:rPr lang="en-US" altLang="ko-KR" dirty="0">
                <a:latin typeface="+mj-ea"/>
                <a:ea typeface="+mj-ea"/>
              </a:rPr>
              <a:t>(Key Features)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21EE5127-5102-7956-BFA7-7895865F1915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7A9B20E-0365-DB76-C6A1-A82BF7552CE2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4.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기능 정의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(Key Features)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6F62E8-93AF-B710-4D80-CB1BA79AD5F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6대 핵심 기능 (전체 MVP 구현 완료)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① 생애 자산 수명 시뮬레이션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Monte Carlo 10,000회 × 생존분석(수명 분포) 결합 → 고갈 확률 + P10/P50/P90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② 개인화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2024 국민생명표 + Cox PH 위험비(성별·흡연·만성질환·BMI 반영) → 개인 수명 분포 S(t)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③ 국민연금 최적 수령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조기(60세)·정시(65세)·연기(70세) 시나리오 비교 → 총 수령액·손익분기 연령·NPV 권고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④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KOSPI·KTB 실 수익률 기반 CVaR 최소화 (cvxpy) → 리스크 허용도별 최적 자산 배분 비율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⑤ 또래 재무 상태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가계금융복지조사 K-means 군집 → 동일 군집 내 퍼센타일 + 상위 30% 행동 패턴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⑥ 이상 거래 탐지 (Layer 1 — 금융사기·보이스피싱 방어)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Z-score + IQR + Isolation Forest + CUSUM 앙상블 (비지도) → 실시간 이상도 점수(0~100)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B1350C5-8319-6983-B16E-22480553B209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7E7F1CC-8A52-054C-1D46-3762F4542CE9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5B08C8C1-2BAB-D8AA-20BE-0327E50B28A8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CE2EA03-7386-45E6-06B4-031FC4A4B11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27C3F581-9604-F61B-A136-EF77720F32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7DE36F9-BC8E-801E-6E7C-0D03E6A9F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416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D8DB-3443-A102-9C42-2C56691F7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F743A085-6411-0EFC-A699-01660D683A67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6FF1F-0E89-66A7-7227-BC7AA6E81C3C}"/>
              </a:ext>
            </a:extLst>
          </p:cNvPr>
          <p:cNvSpPr txBox="1"/>
          <p:nvPr/>
        </p:nvSpPr>
        <p:spPr>
          <a:xfrm>
            <a:off x="939332" y="1189703"/>
            <a:ext cx="3966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5. </a:t>
            </a:r>
            <a:r>
              <a:rPr lang="ko-KR" altLang="en-US" dirty="0">
                <a:latin typeface="+mj-ea"/>
                <a:ea typeface="+mj-ea"/>
              </a:rPr>
              <a:t>데이터 및 기술 활용 </a:t>
            </a:r>
            <a:r>
              <a:rPr lang="en-US" altLang="ko-KR" dirty="0">
                <a:latin typeface="+mj-ea"/>
                <a:ea typeface="+mj-ea"/>
              </a:rPr>
              <a:t>(Data &amp; Tech)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6E9B4B97-E58C-7529-3DC0-F31DEFF65D1B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FA49E26B-9CE5-618A-B798-389BF794A1C3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- 5.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및 기술 활용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(Data &amp; Tech)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53CA2B-7F81-268B-9F89-96F81CA76BDD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활용 데이터 (전부 한국 공개 데이터)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2024 국민생명표 →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가계금융복지조사 마이크로데이터 → K-means 군집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가계동향조사 (2025년 1~3분기·연간) → 소비 패턴 Prior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한국은행 ECOS API (금리·CPI 시계열) → Monte Carlo 파라미터 추정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KRX KOSPI·KOSPI200·KTB 채권지수 수익률 →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(합성 데이터) 거래 내역 시뮬레이션 → 이상 탐지 기저선 학습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 스택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통계 모델:  lifelines · scipy · numpy · cvxpy · scikit-learn · statsmodels · ruptures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AI Agent:  Groq API (llama-3.1-8b-instant, 무료 500K TPD) — Tool Use + 한국어 생성 단일 모델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UI·시각화:  Streamlit (Cloud 배포) · Plotly (팬 차트)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데이터 처리:  pandas · xlrd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기술적 제약 및 해결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실 거래 데이터 부재 → 통계청 공개 데이터 + 합성 데이터 생성으로 대체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LLM API 비용 → Groq 무료 API (500K TPD, 설치 불필요, Cloud 배포 가능)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Rate Limit 대응 → try/except로 429 에러 포착 후 한국어 안내 메시지 반환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고령층 UI 접근성 → Slow Banking UI (구간 선택, 큰 글씨, 고대비)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GitHub: https://github.com/choseohyeon/JBagent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배포 URL: https://jbagent-igjf4uinkqxp4gw9nwagnf.streamlit.app/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079A4C84-B810-1D03-C217-CA40A93EBF16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EFA25AC-315F-E1A0-5965-0ADA362A1ED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3FB278B-321F-4FD4-1029-71569634D73A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298532A-6309-4CFB-816D-A1D013C9D5D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4A83B29B-6384-C7B9-B0DB-6ACE6911922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A87DCD-64A0-C1AB-3174-F4C46EFFC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750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D2E15-49DB-DBA2-9F76-5D086ABD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9093888-EE73-841E-FF7E-3153D90098AB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5450A-C406-F66D-7246-8B3CE4B5F9FE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6. </a:t>
            </a:r>
            <a:r>
              <a:rPr lang="ko-KR" altLang="en-US" dirty="0">
                <a:latin typeface="+mj-ea"/>
                <a:ea typeface="+mj-ea"/>
              </a:rPr>
              <a:t>사용자 시나리오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 err="1">
                <a:latin typeface="+mj-ea"/>
                <a:ea typeface="+mj-ea"/>
              </a:rPr>
              <a:t>유즈케이스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(User Scenario)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A66DB5E4-99DB-B891-A402-F82B9BBE8824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BF138AD5-46CB-5ED6-B503-1D82E8C60406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6.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시나리오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ko-KR" altLang="en-US" sz="1300" b="1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유즈케이스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 Scenario)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FEDF22-ED3F-743F-2090-BF83570103E1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주요 사용자 — 박○○ (가명) | 68세 여성 | 독거 | 자산 약 2억 | 월 지출 150만원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1   앱 실행 → "버튼 모드" 선택 (큰 글씨·단순 UI)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2   온보딩 6단계 (구간 선택 방식)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나이: 68세  /  자산: 1억~3억 선택  /  지출: 150~200만원 선택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연금: 50~100만원 선택  /  수령 시작: 65세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3   "내 자산 얼마나 버티나요?"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Monte Carlo 10,000회 + 생존분석 결합 실행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"85세 전 돈이 바닥날 확률은 34%예요. 중간값으로는 91세까지 버팁니다." +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4   "연금 언제 받는 게 좋을까요?"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조기·정시·연기 시나리오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"68세부터 받으시면 월 108만원으로 늘어요. 손익분기 연령은 77세예요."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5   이상 거래 자동 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낯선 계좌 3회 연속 이체 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"보이스피싱 의심 거래입니다. 신뢰하는 분께 먼저 확인해 보세요."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4F08504B-62BA-7251-2E25-26E6287BEF1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63EA3688-0705-1D30-C6B6-8371FE7270DF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3A377AC2-CD2F-4E5E-BFEF-BC152D4D8A94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DE75EC79-02E8-59C5-C459-D64C66C7424C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ADDEC6D0-1DC9-520B-6922-5931B049566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9C5A4A6-1242-C668-4A8A-4203C179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8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D1B5-3FFF-C59F-69EE-822AEA56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D838C0B-5529-7B58-FED5-6071DAD928C6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AB4B5-2738-A943-FE29-A76A05493367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7. </a:t>
            </a:r>
            <a:r>
              <a:rPr lang="ko-KR" altLang="en-US" dirty="0">
                <a:latin typeface="+mj-ea"/>
                <a:ea typeface="+mj-ea"/>
              </a:rPr>
              <a:t>기대 효과 및 향후 확장성 </a:t>
            </a:r>
            <a:r>
              <a:rPr lang="en-US" altLang="ko-KR" dirty="0">
                <a:latin typeface="+mj-ea"/>
                <a:ea typeface="+mj-ea"/>
              </a:rPr>
              <a:t>(Expected Impact)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E9953E83-E407-B61E-5E64-17F3EA50FCB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092B5F58-4C29-C5F8-0720-9DFB3E434D6A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7.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기대 효과 및 향후 확장성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(Expected Impact)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CB945E-9ECE-D3DA-6C68-E94316447AE9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정량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Monte Carlo Coverage Probability   ≥ 95%    (불확실성 구간 신뢰도)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생존분석 C-index                   ≥ 0.65   (랜덤 0.5 대비 개선)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이상 거래 탐지 F1-score             ≥ 0.85   (Recall 우선)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군집 분석 Silhouette Score          ≥ 0.40   (군집 품질)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정성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"확률"로 표현된 리스크 → 사용자의 구체적 행동 변화 (지출 절감, 수령 시기 조정)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디지털 리터러시 무관 접근 → 버튼 모드·구간 선택으로 누구나 사용 가능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가족 없는 독거 고령층도 AI가 보호자 역할 (이상 거래 즉시 경보)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향후 확장성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JB금융그룹 실 거래 데이터 연동 → 이상 탐지 정확도 대폭 향상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음성 UI (Whisper STT + gTTS) → 75세+ 스마트폰 미숙 층 포용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신뢰 연락처 알림 시스템 → 독거 고령층 안부 확인 서비스화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소비·생활 패턴 이상 탐지 (Layer 2·3) 고도화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Groq API → Claude API 전환 (본선) → Tool 정확도·한국어 품질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B426FE-2A85-BFED-59A8-9822F9722ABB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" name="Google Shape;99;p2">
            <a:extLst>
              <a:ext uri="{FF2B5EF4-FFF2-40B4-BE49-F238E27FC236}">
                <a16:creationId xmlns:a16="http://schemas.microsoft.com/office/drawing/2014/main" id="{4BB48182-34C6-3BEE-3AA6-D59D120B8674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60DD28D2-AA4F-BDB2-A975-8313F18BD5AD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A38C2A3A-1116-CB84-87A3-7D297146A592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1FC3F817-B0A9-AE3C-6E77-6617FE62666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4CF8A7C-3BAD-7322-7C02-7E75424A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6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377</Words>
  <Application>Microsoft Office PowerPoint</Application>
  <PresentationFormat>와이드스크린</PresentationFormat>
  <Paragraphs>66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Pretendard_KR</vt:lpstr>
      <vt:lpstr>Malgun Gothic</vt:lpstr>
      <vt:lpstr>Malgun Gothic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Dacon io</dc:creator>
  <cp:lastModifiedBy>Dacon io</cp:lastModifiedBy>
  <cp:revision>47</cp:revision>
  <dcterms:created xsi:type="dcterms:W3CDTF">2024-05-21T00:00:56Z</dcterms:created>
  <dcterms:modified xsi:type="dcterms:W3CDTF">2026-05-11T00:07:25Z</dcterms:modified>
</cp:coreProperties>
</file>